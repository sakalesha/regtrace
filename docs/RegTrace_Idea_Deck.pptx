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07040" y="5486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1264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07040" y="61264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35661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07040" y="1920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0" y="43891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3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REGTRACE</a:t>
            </a:r>
            <a:endParaRPr lang="en-US" sz="6400" dirty="0"/>
          </a:p>
        </p:txBody>
      </p:sp>
      <p:sp>
        <p:nvSpPr>
          <p:cNvPr id="10" name="Shape 8"/>
          <p:cNvSpPr/>
          <p:nvPr/>
        </p:nvSpPr>
        <p:spPr>
          <a:xfrm>
            <a:off x="868680" y="3429000"/>
            <a:ext cx="2377440" cy="45720"/>
          </a:xfrm>
          <a:prstGeom prst="rect">
            <a:avLst/>
          </a:prstGeom>
          <a:solidFill>
            <a:srgbClr val="B08D3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118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Compliance: From Regulatory Text to Operational Action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Securities Market TechSprint 2026  ·  Problem Statement 2 — Agentic Compliance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2444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920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C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 BROKERS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4892040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24445A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48920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C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 CIRCULAR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489204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B08D3F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48920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 LIVE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compliance challenges, one shared root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RegTrace  ·  SEBI Securities Market TechSprint 2026  ·  Problem Statement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0020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B08D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00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Regulatory Translation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issues circulars, master circulars, and notifications continuously. Interpreting new obligations, mapping them to operational processes, and updating workflows currently depends on manual legal review — resulting in uneven, delayed, and inconsistent implementation across similarly situated intermediaries.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60020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B08D3F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600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Ongoing Compliance Management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 must track existing obligations, map each to evidence of fulfilment, maintain audit trails, and catch gaps before they become regulatory findings — an operationally intensive, largely manual process, especially burdensome for smaller intermediaries.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920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root: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489204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text is unstructured and human-readable, while compliance systems require structured, machine-actionable rules. Bridging that gap — turning regulatory intent into programmable, auditable compliance logic — is the core unsolved problem RegTrace addresses.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pipeline: text in, accountable action 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RegTrace  ·  SEBI Securities Market TechSprint 2026  ·  Problem Statement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RegTrace ingests a regulatory document, segments it into clauses, extracts candidate obligations with an AI step, and routes every one through mandatory human review before it becomes a binding, evidence-linked task — with a tamper-evident audit trail throughout.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9868" y="2258568"/>
            <a:ext cx="512064" cy="512064"/>
          </a:xfrm>
          <a:prstGeom prst="ellipse">
            <a:avLst/>
          </a:prstGeom>
          <a:solidFill>
            <a:srgbClr val="B08D3F"/>
          </a:solidFill>
          <a:ln w="38100">
            <a:solidFill>
              <a:srgbClr val="EEF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9868" y="2258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Clause-numbered circular parsed &amp; segmented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61488" y="25146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2716" y="2258568"/>
            <a:ext cx="512064" cy="512064"/>
          </a:xfrm>
          <a:prstGeom prst="ellipse">
            <a:avLst/>
          </a:prstGeom>
          <a:solidFill>
            <a:srgbClr val="B08D3F"/>
          </a:solidFill>
          <a:ln w="38100">
            <a:solidFill>
              <a:srgbClr val="EEF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2716" y="2258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98648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98648" y="3337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pulls obligations, deadline, confidence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9028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974336" y="25146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55564" y="2258568"/>
            <a:ext cx="512064" cy="512064"/>
          </a:xfrm>
          <a:prstGeom prst="ellipse">
            <a:avLst/>
          </a:prstGeom>
          <a:solidFill>
            <a:srgbClr val="B08D3F"/>
          </a:solidFill>
          <a:ln w="38100">
            <a:solidFill>
              <a:srgbClr val="EEF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5564" y="2258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11496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11496" y="3337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approves / edits / rejects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03136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187184" y="25146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8412" y="2258568"/>
            <a:ext cx="512064" cy="512064"/>
          </a:xfrm>
          <a:prstGeom prst="ellipse">
            <a:avLst/>
          </a:prstGeom>
          <a:solidFill>
            <a:srgbClr val="B08D3F"/>
          </a:solidFill>
          <a:ln w="38100">
            <a:solidFill>
              <a:srgbClr val="EEF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8412" y="2258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24344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24344" y="3337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generated: owner, deadline, evidence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15984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400032" y="25146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81260" y="2258568"/>
            <a:ext cx="512064" cy="512064"/>
          </a:xfrm>
          <a:prstGeom prst="ellipse">
            <a:avLst/>
          </a:prstGeom>
          <a:solidFill>
            <a:srgbClr val="B08D3F"/>
          </a:solidFill>
          <a:ln w="38100">
            <a:solidFill>
              <a:srgbClr val="EEF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81260" y="2258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537192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537192" y="3337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log, clickable trail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browser-based prototype already demonstrates this entire flow end-to-end on a real Stockbroker Master Circular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by design, not an afterthought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RegTrace  ·  SEBI Securities Market TechSprint 2026  ·  Problem Statement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56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08D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8196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Confidence-Gated Extraction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25856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obligation carries a confidence score and explicit ambiguity flags — cross-referenced clauses, missing timelines, and discretionary language are surfaced, not hidden.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856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08D3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18196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Human Review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78040" y="225856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obligation becomes a binding task without explicit officer approval, edit, or rejection. This is the accountability layer a regulator expects — built in, not bolted 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776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08D3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7398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Audit Log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1788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appended to a hash-chained log, where each entry's hash includes the previous entry's — any retroactive edit is detectable.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5204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3776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08D3F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37398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Clickable Clause-to-Task Trace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8040" y="41788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links back through its obligation to the exact source clause — concrete, verifiable explainability instead of an abstract AI claim.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RegTrace  ·  SEBI Securities Market TechSprint 2026  ·  Problem Statement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309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82296" cy="713232"/>
          </a:xfrm>
          <a:prstGeom prst="rect">
            <a:avLst/>
          </a:prstGeom>
          <a:solidFill>
            <a:srgbClr val="1D3A4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002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160020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— upload, review queue, trace view, dashboard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6309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59736"/>
            <a:ext cx="82296" cy="713232"/>
          </a:xfrm>
          <a:prstGeom prst="rect">
            <a:avLst/>
          </a:prstGeom>
          <a:solidFill>
            <a:srgbClr val="1D3A4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45973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45973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auth (JWT), routing, validation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19272"/>
            <a:ext cx="6309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19272"/>
            <a:ext cx="82296" cy="713232"/>
          </a:xfrm>
          <a:prstGeom prst="rect">
            <a:avLst/>
          </a:prstGeom>
          <a:solidFill>
            <a:srgbClr val="1D3A4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31927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3319272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→ AI Extraction (structured JSON) → Task Generation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178808"/>
            <a:ext cx="6309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78808"/>
            <a:ext cx="82296" cy="713232"/>
          </a:xfrm>
          <a:prstGeom prst="rect">
            <a:avLst/>
          </a:prstGeom>
          <a:solidFill>
            <a:srgbClr val="B08D3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7880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417880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+ Atlas Vector Search + hash-chained audit log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038344"/>
            <a:ext cx="6309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038344"/>
            <a:ext cx="82296" cy="713232"/>
          </a:xfrm>
          <a:prstGeom prst="rect">
            <a:avLst/>
          </a:prstGeom>
          <a:solidFill>
            <a:srgbClr val="1D3A4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03834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Layer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06040" y="5038344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 — async LLM calls, deadline monitoring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23760" y="16002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8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20116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51392" y="2011680"/>
            <a:ext cx="287121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51392" y="201168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23760" y="246888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24688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52560" y="24688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24688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23760" y="2926080"/>
            <a:ext cx="30723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292608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23760" y="3383280"/>
            <a:ext cx="427939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3383280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Vector Search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23760" y="38404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851392" y="384048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51392" y="38404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4297680"/>
            <a:ext cx="508406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4297680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(structured output)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23760" y="4754880"/>
            <a:ext cx="468172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0" y="4754880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223760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0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223760" y="5669280"/>
            <a:ext cx="206654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0" y="56692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223760" y="6126480"/>
            <a:ext cx="327355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612648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223760" y="6583680"/>
            <a:ext cx="327355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8D3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0" y="658368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223760" y="507492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132A3A"/>
          </a:solidFill>
          <a:ln/>
        </p:spPr>
      </p:sp>
      <p:sp>
        <p:nvSpPr>
          <p:cNvPr id="56" name="Text 54"/>
          <p:cNvSpPr/>
          <p:nvPr/>
        </p:nvSpPr>
        <p:spPr>
          <a:xfrm>
            <a:off x="7498080" y="507492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E7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every choice is sized to the data shape and the team's delivery timeline — not maximized for technical impressiveness.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potential &amp; go-to-market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RegTrace  ·  SEBI Securities Market TechSprint 2026  ·  Problem Statement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32A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099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SEBI-registered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stockbrokers alone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32A3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7099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97680" y="22402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Intermediary categories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expand into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32A3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17099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046720" y="22402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compound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every new circular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8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subscription, tiered by intermediary size and number of regulatory corpora tracked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pricing for compliance officers using the review queue and dashboard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fee for larger intermediaries needing historical circular backfill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8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3832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Pilot with stockbrokers on the Master Circular corpus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Paid rollout; expand to investment advisers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AMCs, RTAs, market infrastructure institutions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749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durable: the clause → obligation → task → evidence → audit record compounds in value the longer a customer uses it, becoming their institutional audit history — creating switching costs and expansion revenue rather than a one-time tool sale.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status &amp; 4-week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RegTrace  ·  SEBI Securities Market TechSprint 2026  ·  Problem Statement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4E6B4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Already built: a working browser prototype demonstrating ingestion → extraction with confidence scoring → human review → task generation → clickable trace → live dashboard.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1089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B08D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089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0215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13–19 Jul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178808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pipeline, MongoDB schema, clause segmentation on real circular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44952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10128" y="28803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38728" y="31089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B08D3F"/>
          </a:solidFill>
          <a:ln/>
        </p:spPr>
      </p:sp>
      <p:sp>
        <p:nvSpPr>
          <p:cNvPr id="17" name="Text 15"/>
          <p:cNvSpPr/>
          <p:nvPr/>
        </p:nvSpPr>
        <p:spPr>
          <a:xfrm>
            <a:off x="3538728" y="31089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38728" y="350215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20–26 Jul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38728" y="37947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Pipeline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38728" y="4178808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LLM extraction with structured output &amp; confidence scoring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064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71616" y="28803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0216" y="31089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B08D3F"/>
          </a:solidFill>
          <a:ln/>
        </p:spPr>
      </p:sp>
      <p:sp>
        <p:nvSpPr>
          <p:cNvPr id="24" name="Text 22"/>
          <p:cNvSpPr/>
          <p:nvPr/>
        </p:nvSpPr>
        <p:spPr>
          <a:xfrm>
            <a:off x="6300216" y="31089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0216" y="350215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Jul–2 Aug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0216" y="37947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Trace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0216" y="4178808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UI, task generation, clause-to-task trace, audit log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67928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833104" y="28803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DD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61704" y="31089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B08D3F"/>
          </a:solidFill>
          <a:ln/>
        </p:spPr>
      </p:sp>
      <p:sp>
        <p:nvSpPr>
          <p:cNvPr id="31" name="Text 29"/>
          <p:cNvSpPr/>
          <p:nvPr/>
        </p:nvSpPr>
        <p:spPr>
          <a:xfrm>
            <a:off x="9061704" y="31089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61704" y="350215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3–9 Aug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61704" y="37947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&amp; Demo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61704" y="4178808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deployment, demo video — submission ready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REGTRACE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over ambition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08D3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2148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 the problem exactly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514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both named challenges — dynamic regulatory translation and ongoing compliance management — using SEBI's own framing.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08D3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Concrete, not conceptual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474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clickable prototype exists today; every claim in this deck is demonstrated, not just described.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08D3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4069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trade-offs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scores, tamper-evident (not "immutable") audit logs, and human review are stated for what they technically are.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989320"/>
            <a:ext cx="10515600" cy="18288"/>
          </a:xfrm>
          <a:prstGeom prst="rect">
            <a:avLst/>
          </a:prstGeom>
          <a:solidFill>
            <a:srgbClr val="2C4A5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C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RegTrace  ·  Target intermediary: Stock Brokers  ·  Corpus: SEBI Master Circular for Stock Brokers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RegTrace — SEBI TechSprint 2026 Idea Submission</dc:title>
  <dc:subject>PptxGenJS Presentation</dc:subject>
  <dc:creator>RegTrace Team</dc:creator>
  <cp:lastModifiedBy>RegTrace Team</cp:lastModifiedBy>
  <cp:revision>1</cp:revision>
  <dcterms:created xsi:type="dcterms:W3CDTF">2026-07-12T14:52:08Z</dcterms:created>
  <dcterms:modified xsi:type="dcterms:W3CDTF">2026-07-12T14:52:08Z</dcterms:modified>
</cp:coreProperties>
</file>